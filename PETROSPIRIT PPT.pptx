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1" r:id="rId3"/>
    <p:sldId id="256" r:id="rId4"/>
    <p:sldId id="257" r:id="rId5"/>
    <p:sldId id="260" r:id="rId6"/>
    <p:sldId id="261" r:id="rId7"/>
    <p:sldId id="267" r:id="rId8"/>
    <p:sldId id="268" r:id="rId9"/>
    <p:sldId id="269" r:id="rId10"/>
    <p:sldId id="271" r:id="rId11"/>
    <p:sldId id="272" r:id="rId12"/>
    <p:sldId id="273" r:id="rId13"/>
    <p:sldId id="277" r:id="rId14"/>
    <p:sldId id="274" r:id="rId15"/>
    <p:sldId id="2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alphaModFix amt="21000"/>
          </a:blip>
          <a:stretch>
            <a:fillRect/>
          </a:stretch>
        </a:blip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 altLang="en-US"/>
              <a:t>College : Aditya Enginnering College </a:t>
            </a:r>
            <a:endParaRPr lang="" altLang="en-US"/>
          </a:p>
        </p:txBody>
      </p:sp>
      <p:sp>
        <p:nvSpPr>
          <p:cNvPr id="3" name="Content Placeholder 2"/>
          <p:cNvSpPr>
            <a:spLocks noGrp="1"/>
          </p:cNvSpPr>
          <p:nvPr>
            <p:ph idx="1"/>
          </p:nvPr>
        </p:nvSpPr>
        <p:spPr/>
        <p:txBody>
          <a:bodyPr/>
          <a:p>
            <a:pPr marL="0" indent="0">
              <a:buNone/>
            </a:pPr>
            <a:r>
              <a:rPr lang="" altLang="en-US"/>
              <a:t>        Speaker 1 : Takudzwa Lloyd Chimwa</a:t>
            </a:r>
            <a:endParaRPr lang="" altLang="en-US"/>
          </a:p>
          <a:p>
            <a:pPr marL="0" indent="0">
              <a:buNone/>
            </a:pPr>
            <a:r>
              <a:rPr lang="" altLang="en-US"/>
              <a:t>        Speaker 2 : Tafadzwa Mhere </a:t>
            </a:r>
            <a:endParaRPr lang="" altLang="en-US"/>
          </a:p>
          <a:p>
            <a:pPr marL="0" indent="0">
              <a:buNone/>
            </a:pPr>
            <a:r>
              <a:rPr lang="" altLang="en-US"/>
              <a:t>        Branch      : Petroleum Technology</a:t>
            </a:r>
            <a:endParaRPr lang=""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78510" y="299720"/>
            <a:ext cx="10883900" cy="2791460"/>
          </a:xfrm>
        </p:spPr>
        <p:txBody>
          <a:bodyPr>
            <a:normAutofit/>
          </a:bodyPr>
          <a:lstStyle/>
          <a:p>
            <a:r>
              <a:rPr lang="en-US" sz="4000" dirty="0"/>
              <a:t> </a:t>
            </a:r>
            <a:r>
              <a:rPr lang="en-US" sz="4000" dirty="0">
                <a:latin typeface="Times New Roman" panose="02020603050405020304" charset="0"/>
                <a:cs typeface="Times New Roman" panose="02020603050405020304" charset="0"/>
              </a:rPr>
              <a:t> </a:t>
            </a:r>
            <a:r>
              <a:rPr lang="en-US" sz="4000" b="1" dirty="0">
                <a:latin typeface="Times New Roman" panose="02020603050405020304" charset="0"/>
                <a:cs typeface="Times New Roman" panose="02020603050405020304" charset="0"/>
              </a:rPr>
              <a:t> Title: "Digitalization in Petroleum Engineering: Transforming the Industry"</a:t>
            </a:r>
            <a:br>
              <a:rPr lang="en-US" sz="4000" b="1" dirty="0">
                <a:latin typeface="Times New Roman" panose="02020603050405020304" charset="0"/>
                <a:cs typeface="Times New Roman" panose="02020603050405020304" charset="0"/>
              </a:rPr>
            </a:br>
            <a:r>
              <a:rPr lang="en-US" sz="4000" dirty="0"/>
              <a:t>      </a:t>
            </a:r>
            <a:br>
              <a:rPr lang="en-US" sz="4000" dirty="0"/>
            </a:br>
            <a:r>
              <a:rPr lang="en-US" dirty="0"/>
              <a:t>    </a:t>
            </a:r>
            <a:endParaRPr lang="en-US" dirty="0"/>
          </a:p>
        </p:txBody>
      </p:sp>
      <p:sp>
        <p:nvSpPr>
          <p:cNvPr id="3" name="Subtitle 2"/>
          <p:cNvSpPr>
            <a:spLocks noGrp="1"/>
          </p:cNvSpPr>
          <p:nvPr>
            <p:ph type="subTitle" idx="1"/>
          </p:nvPr>
        </p:nvSpPr>
        <p:spPr>
          <a:xfrm>
            <a:off x="778510" y="1660525"/>
            <a:ext cx="10977880" cy="1050290"/>
          </a:xfrm>
        </p:spPr>
        <p:txBody>
          <a:bodyPr/>
          <a:lstStyle/>
          <a:p>
            <a:r>
              <a:rPr lang="en-US" sz="3200" b="1">
                <a:latin typeface="Times New Roman" panose="02020603050405020304" charset="0"/>
                <a:cs typeface="Times New Roman" panose="02020603050405020304" charset="0"/>
              </a:rPr>
              <a:t> "Unleashing the Power of Digital Magic in Oil &amp; Gas"</a:t>
            </a:r>
            <a:endParaRPr lang="en-US" sz="3200" b="1">
              <a:latin typeface="Times New Roman" panose="02020603050405020304" charset="0"/>
              <a:cs typeface="Times New Roman" panose="02020603050405020304" charset="0"/>
            </a:endParaRPr>
          </a:p>
        </p:txBody>
      </p:sp>
      <p:pic>
        <p:nvPicPr>
          <p:cNvPr id="100" name="Picture 99"/>
          <p:cNvPicPr/>
          <p:nvPr/>
        </p:nvPicPr>
        <p:blipFill>
          <a:blip r:embed="rId1"/>
          <a:stretch>
            <a:fillRect/>
          </a:stretch>
        </p:blipFill>
        <p:spPr>
          <a:xfrm>
            <a:off x="1166495" y="2326005"/>
            <a:ext cx="9128760" cy="419671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10285" y="635"/>
            <a:ext cx="8456295" cy="554355"/>
          </a:xfrm>
        </p:spPr>
        <p:txBody>
          <a:bodyPr/>
          <a:p>
            <a:r>
              <a:rPr lang="en-US"/>
              <a:t> </a:t>
            </a:r>
            <a:r>
              <a:rPr lang="en-US" sz="4800" b="1"/>
              <a:t>Introduction</a:t>
            </a:r>
            <a:endParaRPr lang="en-US" sz="4800" b="1"/>
          </a:p>
        </p:txBody>
      </p:sp>
      <p:sp>
        <p:nvSpPr>
          <p:cNvPr id="3" name="Content Placeholder 2"/>
          <p:cNvSpPr>
            <a:spLocks noGrp="1"/>
          </p:cNvSpPr>
          <p:nvPr>
            <p:ph idx="1"/>
          </p:nvPr>
        </p:nvSpPr>
        <p:spPr>
          <a:xfrm>
            <a:off x="172085" y="554990"/>
            <a:ext cx="12019915" cy="6176010"/>
          </a:xfrm>
        </p:spPr>
        <p:txBody>
          <a:bodyPr>
            <a:normAutofit fontScale="70000"/>
          </a:bodyPr>
          <a:p>
            <a:pPr marL="0" indent="0">
              <a:buNone/>
            </a:pPr>
            <a:r>
              <a:rPr lang="en-US" altLang="en-US"/>
              <a:t>   </a:t>
            </a:r>
            <a:r>
              <a:rPr lang="en-US"/>
              <a:t>"How can the petroleum industry thrive in an era of rapid change?"</a:t>
            </a:r>
            <a:endParaRPr lang="en-US"/>
          </a:p>
          <a:p>
            <a:r>
              <a:rPr lang="en-US"/>
              <a:t>"Through the strategic adoption of digitalization, the petroleum industry can not only thrive but also lead the way in achieving operational excellence, sustainability, and growth in a rapidly changing global landscape."</a:t>
            </a:r>
            <a:endParaRPr lang="en-US"/>
          </a:p>
          <a:p>
            <a:r>
              <a:rPr lang="en-US"/>
              <a:t>The petroleum industry is facing unprecedented challenges, including the transition to cleaner energy sources, stricter environmental regulations, and the need to optimize operations. Digitalization offers a transformative solution by harnessing the power of advanced technologies like Artificial Intelligence (AI), the Internet of Things (IoT), and Big Data Analytics.</a:t>
            </a:r>
            <a:endParaRPr lang="en-US"/>
          </a:p>
          <a:p>
            <a:r>
              <a:rPr lang="en-US"/>
              <a:t>By leveraging these digital tools, companies can enhance their operational efficiency, reduce costs, and make data-driven decisions. They can also minimize their environmental footprint by optimizing resource usage and reducing emissions, contributing to sustainability goals.</a:t>
            </a:r>
            <a:endParaRPr lang="en-US"/>
          </a:p>
          <a:p>
            <a:r>
              <a:rPr lang="en-US"/>
              <a:t>Moreover, digitalization allows the industry to adapt and innovate in real-time, staying competitive in an ever-evolving market. It empowers petroleum engineers and professionals to harness the full potential of data and technology, enabling them to navigate the complex challenges of the modern energy landscape.</a:t>
            </a:r>
            <a:endParaRPr lang="en-US"/>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r>
              <a:rPr lang="en-US" b="1"/>
              <a:t>What is Digitalization?</a:t>
            </a:r>
            <a:endParaRPr lang="en-US" b="1"/>
          </a:p>
        </p:txBody>
      </p:sp>
      <p:sp>
        <p:nvSpPr>
          <p:cNvPr id="3" name="Content Placeholder 2"/>
          <p:cNvSpPr>
            <a:spLocks noGrp="1"/>
          </p:cNvSpPr>
          <p:nvPr>
            <p:ph idx="1"/>
          </p:nvPr>
        </p:nvSpPr>
        <p:spPr>
          <a:xfrm>
            <a:off x="153670" y="1276985"/>
            <a:ext cx="11428730" cy="4448810"/>
          </a:xfrm>
        </p:spPr>
        <p:txBody>
          <a:bodyPr/>
          <a:p>
            <a:pPr lvl="2"/>
            <a:r>
              <a:rPr lang="en-US"/>
              <a:t>Digitalization is the strategic integration of cutting-edge digital technologies into every facet of petroleum engineering. It transforms traditional processes by harnessing the power of data, automation, and connectivity, enabling the industry to adapt, thrive, and excel in a rapidly evolving energy landscape."</a:t>
            </a:r>
            <a:endParaRPr lang="en-US"/>
          </a:p>
          <a:p>
            <a:pPr lvl="2"/>
            <a:endParaRPr lang="en-US"/>
          </a:p>
          <a:p>
            <a:pPr lvl="1">
              <a:buFont typeface="Wingdings" panose="05000000000000000000" charset="0"/>
              <a:buChar char="Ø"/>
            </a:pPr>
            <a:r>
              <a:rPr lang="en-US" sz="1600"/>
              <a:t>Reference: "The Digital Oilfield: A Roadmap to Data-Driven Oil &amp; Gas Operations" (2022, Society of Petroleum Engineers).</a:t>
            </a:r>
            <a:endParaRPr 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12725"/>
            <a:ext cx="10972800" cy="836295"/>
          </a:xfrm>
        </p:spPr>
        <p:txBody>
          <a:bodyPr/>
          <a:p>
            <a:r>
              <a:rPr lang="en-US"/>
              <a:t> Key Digital Technologies</a:t>
            </a:r>
            <a:endParaRPr lang="en-US"/>
          </a:p>
        </p:txBody>
      </p:sp>
      <p:sp>
        <p:nvSpPr>
          <p:cNvPr id="3" name="Content Placeholder 2"/>
          <p:cNvSpPr>
            <a:spLocks noGrp="1"/>
          </p:cNvSpPr>
          <p:nvPr>
            <p:ph idx="1"/>
          </p:nvPr>
        </p:nvSpPr>
        <p:spPr>
          <a:xfrm>
            <a:off x="200660" y="1049020"/>
            <a:ext cx="11381740" cy="5685155"/>
          </a:xfrm>
        </p:spPr>
        <p:txBody>
          <a:bodyPr/>
          <a:p>
            <a:pPr marL="0" indent="0">
              <a:buNone/>
            </a:pPr>
            <a:r>
              <a:rPr lang="en-US" sz="2800"/>
              <a:t>"</a:t>
            </a:r>
            <a:r>
              <a:rPr lang="en-US" sz="2400"/>
              <a:t>Digitalization in petroleum engineering leverages several transformative technologies that are reshaping the industry. Here are the key players:</a:t>
            </a:r>
            <a:endParaRPr lang="en-US" sz="2400"/>
          </a:p>
          <a:p>
            <a:pPr marL="514350" indent="-514350">
              <a:buAutoNum type="arabicPeriod"/>
            </a:pPr>
            <a:r>
              <a:rPr lang="en-US" sz="2400"/>
              <a:t> IoT (Internet of Things): IoT involves connecting devices and sensors across the oilfield to collect real-time data on equipment performance, environmental conditions, and more. This data informs decisions and enhances operational efficiency.</a:t>
            </a:r>
            <a:endParaRPr lang="en-US" sz="2400"/>
          </a:p>
        </p:txBody>
      </p:sp>
      <p:sp>
        <p:nvSpPr>
          <p:cNvPr id="4" name="Text Box 3"/>
          <p:cNvSpPr txBox="1"/>
          <p:nvPr/>
        </p:nvSpPr>
        <p:spPr>
          <a:xfrm>
            <a:off x="200660" y="4142105"/>
            <a:ext cx="11169650" cy="1198880"/>
          </a:xfrm>
          <a:prstGeom prst="rect">
            <a:avLst/>
          </a:prstGeom>
          <a:noFill/>
        </p:spPr>
        <p:txBody>
          <a:bodyPr wrap="square" rtlCol="0" anchor="t">
            <a:spAutoFit/>
          </a:bodyPr>
          <a:p>
            <a:pPr indent="0">
              <a:buFont typeface="+mj-lt"/>
              <a:buNone/>
            </a:pPr>
            <a:r>
              <a:rPr lang="en-US" altLang="en-US" sz="2400"/>
              <a:t>2.  </a:t>
            </a:r>
            <a:r>
              <a:rPr lang="en-US" sz="2400"/>
              <a:t>Big Data Analytics: Big Data Analytics processes and analyzes </a:t>
            </a:r>
            <a:r>
              <a:rPr lang="en-US" altLang="en-US" sz="2400"/>
              <a:t>      </a:t>
            </a:r>
            <a:r>
              <a:rPr lang="en-US" sz="2400"/>
              <a:t>vast volumes of data generated by sensors and systems. It uncovers patterns, trends, and insights that empower informed decision-making and predictive maintenance.</a:t>
            </a:r>
            <a:endParaRPr 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0030" y="699135"/>
            <a:ext cx="10972800" cy="870585"/>
          </a:xfrm>
        </p:spPr>
        <p:txBody>
          <a:bodyPr/>
          <a:p>
            <a:r>
              <a:rPr lang="en-US">
                <a:sym typeface="+mn-ea"/>
              </a:rPr>
              <a:t>Key Digital Technologies</a:t>
            </a:r>
            <a:br>
              <a:rPr lang="en-US"/>
            </a:br>
            <a:endParaRPr lang="en-US"/>
          </a:p>
        </p:txBody>
      </p:sp>
      <p:sp>
        <p:nvSpPr>
          <p:cNvPr id="3" name="Content Placeholder 2"/>
          <p:cNvSpPr>
            <a:spLocks noGrp="1"/>
          </p:cNvSpPr>
          <p:nvPr>
            <p:ph idx="1"/>
          </p:nvPr>
        </p:nvSpPr>
        <p:spPr>
          <a:xfrm>
            <a:off x="892810" y="1569720"/>
            <a:ext cx="10972800" cy="4525963"/>
          </a:xfrm>
        </p:spPr>
        <p:txBody>
          <a:bodyPr/>
          <a:p>
            <a:pPr marL="0" indent="0">
              <a:buNone/>
            </a:pPr>
            <a:r>
              <a:rPr lang="en-US" altLang="en-US" sz="2400"/>
              <a:t>3. </a:t>
            </a:r>
            <a:r>
              <a:rPr lang="en-US" sz="2400"/>
              <a:t>Artificial Intelligence (AI) and Machine Learning: AI and ML algorithms analyze data to identify optimization opportunities in drilling, reservoir management, and production. They enable automation and enhance decision support systems.</a:t>
            </a:r>
            <a:endParaRPr lang="en-US" sz="2400"/>
          </a:p>
          <a:p>
            <a:pPr marL="0" indent="0">
              <a:buNone/>
            </a:pPr>
            <a:endParaRPr lang="en-US" sz="2400"/>
          </a:p>
          <a:p>
            <a:pPr marL="0" indent="0">
              <a:buNone/>
            </a:pPr>
            <a:r>
              <a:rPr lang="en-US" altLang="en-US" sz="2400"/>
              <a:t>4. </a:t>
            </a:r>
            <a:r>
              <a:rPr lang="en-US" sz="2400"/>
              <a:t>Cloud Computing: Cloud solutions provide scalable and cost-effective storage and processing for immense datasets. They facilitate collaboration and accessibility of data from anywhere, promoting efficiency.</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423670"/>
            <a:ext cx="10154920" cy="176530"/>
          </a:xfrm>
        </p:spPr>
        <p:txBody>
          <a:bodyPr/>
          <a:p>
            <a:r>
              <a:rPr lang="en-US">
                <a:sym typeface="+mn-ea"/>
              </a:rPr>
              <a:t>Key Digital Technologies</a:t>
            </a:r>
            <a:br>
              <a:rPr lang="en-US">
                <a:sym typeface="+mn-ea"/>
              </a:rPr>
            </a:br>
            <a:br>
              <a:rPr lang="en-US"/>
            </a:br>
            <a:endParaRPr lang="en-US"/>
          </a:p>
        </p:txBody>
      </p:sp>
      <p:sp>
        <p:nvSpPr>
          <p:cNvPr id="3" name="Content Placeholder 2"/>
          <p:cNvSpPr>
            <a:spLocks noGrp="1"/>
          </p:cNvSpPr>
          <p:nvPr>
            <p:ph idx="1"/>
          </p:nvPr>
        </p:nvSpPr>
        <p:spPr>
          <a:xfrm>
            <a:off x="609600" y="1600200"/>
            <a:ext cx="10972800" cy="4525963"/>
          </a:xfrm>
        </p:spPr>
        <p:txBody>
          <a:bodyPr/>
          <a:p>
            <a:pPr marL="0" indent="0">
              <a:buNone/>
            </a:pPr>
            <a:r>
              <a:rPr lang="en-US" altLang="en-US" sz="2400"/>
              <a:t>5. </a:t>
            </a:r>
            <a:r>
              <a:rPr lang="en-US" sz="2400"/>
              <a:t>Digital Twins: Digital twins create virtual replicas of physical assets, such as oil rigs or pipelines. They allow real-time monitoring, simulation, and predictive maintenance, optimizing asset performance.</a:t>
            </a:r>
            <a:endParaRPr lang="en-US" sz="2400"/>
          </a:p>
          <a:p>
            <a:pPr marL="0" indent="0">
              <a:buNone/>
            </a:pPr>
            <a:endParaRPr lang="en-US" altLang="en-US" sz="2400"/>
          </a:p>
          <a:p>
            <a:pPr marL="0" indent="0">
              <a:buNone/>
            </a:pPr>
            <a:r>
              <a:rPr lang="en-US" altLang="en-US" sz="2400"/>
              <a:t>6. </a:t>
            </a:r>
            <a:r>
              <a:rPr lang="en-US" sz="2400"/>
              <a:t>Blockchain: Blockchain technology enhances transparency, security, and traceability in supply chains and transactions within the petroleum industry, reducing fraud and ensuring compliance."</a:t>
            </a:r>
            <a:endParaRPr lang="en-US" sz="2400"/>
          </a:p>
        </p:txBody>
      </p:sp>
      <p:sp>
        <p:nvSpPr>
          <p:cNvPr id="4" name="Text Box 3"/>
          <p:cNvSpPr txBox="1"/>
          <p:nvPr/>
        </p:nvSpPr>
        <p:spPr>
          <a:xfrm>
            <a:off x="753110" y="5387340"/>
            <a:ext cx="9791065" cy="368300"/>
          </a:xfrm>
          <a:prstGeom prst="rect">
            <a:avLst/>
          </a:prstGeom>
          <a:noFill/>
        </p:spPr>
        <p:txBody>
          <a:bodyPr wrap="square" rtlCol="0" anchor="t">
            <a:spAutoFit/>
          </a:bodyPr>
          <a:p>
            <a:pPr marL="285750" indent="-285750">
              <a:buFont typeface="Wingdings" panose="05000000000000000000" charset="0"/>
              <a:buChar char="Ø"/>
            </a:pPr>
            <a:r>
              <a:rPr lang="en-US"/>
              <a:t>Reference: "Digital Transformation in Oil and Gas" (2021, Deloitte).</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828675"/>
          </a:xfrm>
        </p:spPr>
        <p:txBody>
          <a:bodyPr/>
          <a:p>
            <a:r>
              <a:rPr lang="en-US"/>
              <a:t>Cloud Computing</a:t>
            </a:r>
            <a:endParaRPr lang="en-US"/>
          </a:p>
        </p:txBody>
      </p:sp>
      <p:sp>
        <p:nvSpPr>
          <p:cNvPr id="3" name="Content Placeholder 2"/>
          <p:cNvSpPr>
            <a:spLocks noGrp="1"/>
          </p:cNvSpPr>
          <p:nvPr>
            <p:ph idx="1"/>
          </p:nvPr>
        </p:nvSpPr>
        <p:spPr/>
        <p:txBody>
          <a:bodyPr/>
          <a:p>
            <a:r>
              <a:rPr lang="en-US" sz="2400"/>
              <a:t>Scalability: The cloud allows the industry to scale its data storage and processing capabilities as needed, accommodating the immense volumes of data generated in exploration, production, and operations.</a:t>
            </a:r>
            <a:endParaRPr lang="en-US" sz="2400"/>
          </a:p>
          <a:p>
            <a:endParaRPr lang="en-US" sz="2400"/>
          </a:p>
          <a:p>
            <a:r>
              <a:rPr lang="en-US" sz="2400"/>
              <a:t>Cost-Efficiency: By eliminating the need for extensive on-premises infrastructure, cloud solutions reduce capital expenditure. Companies pay for the resources they use, making it a cost-efficient choice.</a:t>
            </a:r>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Cybersecurity</a:t>
            </a:r>
            <a:endParaRPr lang="en-US"/>
          </a:p>
        </p:txBody>
      </p:sp>
      <p:sp>
        <p:nvSpPr>
          <p:cNvPr id="3" name="Content Placeholder 2"/>
          <p:cNvSpPr>
            <a:spLocks noGrp="1"/>
          </p:cNvSpPr>
          <p:nvPr>
            <p:ph idx="1"/>
          </p:nvPr>
        </p:nvSpPr>
        <p:spPr>
          <a:xfrm>
            <a:off x="704215" y="1584960"/>
            <a:ext cx="10972800" cy="4525963"/>
          </a:xfrm>
        </p:spPr>
        <p:txBody>
          <a:bodyPr/>
          <a:p>
            <a:pPr marL="0" indent="0">
              <a:buNone/>
            </a:pPr>
            <a:endParaRPr lang="en-US"/>
          </a:p>
          <a:p>
            <a:r>
              <a:rPr lang="en-US" sz="2400"/>
              <a:t> "Cybersecurity is paramount in digitalization efforts within petroleum engineering. It safeguards critical data and systems from cyber threats, ensuring the industry's operational integrity and data protection."</a:t>
            </a:r>
            <a:endParaRPr 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Environmental Impact</a:t>
            </a:r>
            <a:endParaRPr lang="en-US"/>
          </a:p>
        </p:txBody>
      </p:sp>
      <p:sp>
        <p:nvSpPr>
          <p:cNvPr id="3" name="Content Placeholder 2"/>
          <p:cNvSpPr>
            <a:spLocks noGrp="1"/>
          </p:cNvSpPr>
          <p:nvPr>
            <p:ph idx="1"/>
          </p:nvPr>
        </p:nvSpPr>
        <p:spPr/>
        <p:txBody>
          <a:bodyPr/>
          <a:p>
            <a:r>
              <a:rPr lang="en-US" sz="2400"/>
              <a:t>"Digitalization in petroleum engineering plays a pivotal role in mitigating the industry's environmental footprint. It achieves this through measures like reducing carbon emissions, optimizing resource usage, and actively contributing to sustainability goals."</a:t>
            </a:r>
            <a:endParaRPr lang="en-US" sz="2400"/>
          </a:p>
          <a:p>
            <a:r>
              <a:rPr lang="en-US" sz="2400"/>
              <a:t>Reference: "Digital Technologies for a Sustainable Energy Future" (2020, World Economic Forum).</a:t>
            </a:r>
            <a:endParaRPr 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66700"/>
            <a:ext cx="10972800" cy="1275080"/>
          </a:xfrm>
        </p:spPr>
        <p:txBody>
          <a:bodyPr/>
          <a:p>
            <a:r>
              <a:rPr lang="en-US"/>
              <a:t> Case Studies</a:t>
            </a:r>
            <a:endParaRPr lang="en-US"/>
          </a:p>
        </p:txBody>
      </p:sp>
      <p:pic>
        <p:nvPicPr>
          <p:cNvPr id="5" name="Content Placeholder 4" descr="1520183668118"/>
          <p:cNvPicPr>
            <a:picLocks noChangeAspect="1"/>
          </p:cNvPicPr>
          <p:nvPr>
            <p:ph idx="1"/>
          </p:nvPr>
        </p:nvPicPr>
        <p:blipFill>
          <a:blip r:embed="rId1"/>
          <a:stretch>
            <a:fillRect/>
          </a:stretch>
        </p:blipFill>
        <p:spPr>
          <a:xfrm>
            <a:off x="0" y="737870"/>
            <a:ext cx="12192000" cy="5938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868045"/>
          </a:xfrm>
        </p:spPr>
        <p:txBody>
          <a:bodyPr/>
          <a:p>
            <a:r>
              <a:rPr lang="en-US" altLang="en-US"/>
              <a:t>Case Study 2</a:t>
            </a:r>
            <a:endParaRPr lang="en-US" altLang="en-US"/>
          </a:p>
        </p:txBody>
      </p:sp>
      <p:pic>
        <p:nvPicPr>
          <p:cNvPr id="4" name="Content Placeholder 3" descr="1521078324247"/>
          <p:cNvPicPr>
            <a:picLocks noChangeAspect="1"/>
          </p:cNvPicPr>
          <p:nvPr>
            <p:ph idx="1"/>
          </p:nvPr>
        </p:nvPicPr>
        <p:blipFill>
          <a:blip r:embed="rId1"/>
          <a:stretch>
            <a:fillRect/>
          </a:stretch>
        </p:blipFill>
        <p:spPr>
          <a:xfrm>
            <a:off x="635" y="715010"/>
            <a:ext cx="12181205" cy="60096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635"/>
            <a:ext cx="10972800" cy="1008380"/>
          </a:xfrm>
        </p:spPr>
        <p:txBody>
          <a:bodyPr/>
          <a:p>
            <a:r>
              <a:rPr lang="en-US"/>
              <a:t>Conclusion</a:t>
            </a:r>
            <a:endParaRPr lang="en-US"/>
          </a:p>
        </p:txBody>
      </p:sp>
      <p:sp>
        <p:nvSpPr>
          <p:cNvPr id="3" name="Content Placeholder 2"/>
          <p:cNvSpPr>
            <a:spLocks noGrp="1"/>
          </p:cNvSpPr>
          <p:nvPr>
            <p:ph idx="1"/>
          </p:nvPr>
        </p:nvSpPr>
        <p:spPr>
          <a:xfrm>
            <a:off x="798830" y="767080"/>
            <a:ext cx="10783570" cy="5626735"/>
          </a:xfrm>
        </p:spPr>
        <p:txBody>
          <a:bodyPr/>
          <a:p>
            <a:pPr marL="0" indent="0">
              <a:buNone/>
            </a:pPr>
            <a:r>
              <a:rPr lang="en-US"/>
              <a:t> </a:t>
            </a:r>
            <a:r>
              <a:rPr lang="en-US" sz="2400"/>
              <a:t>"In conclusion, digitalization is not just a technological advancement; it's a transformative force reshaping petroleum engineering. Through the integration of cutting-edge technologies like AI, IoT, and Big Data Analytics, the industry is poised to achieve new heights of efficiency, sustainability, and adaptability.</a:t>
            </a:r>
            <a:endParaRPr lang="en-US" sz="2400"/>
          </a:p>
          <a:p>
            <a:pPr marL="0" indent="0">
              <a:buNone/>
            </a:pPr>
            <a:endParaRPr lang="en-US" sz="2400"/>
          </a:p>
          <a:p>
            <a:pPr marL="0" indent="0">
              <a:buNone/>
            </a:pPr>
            <a:r>
              <a:rPr lang="en-US" sz="2400"/>
              <a:t>    With a focus on reducing carbon emissions, optimizing resource utilization, and enhancing environmental compliance, digitalization is at the forefront of addressing critical environmental challenges.</a:t>
            </a:r>
            <a:endParaRPr 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333625"/>
            <a:ext cx="10972800" cy="876300"/>
          </a:xfrm>
        </p:spPr>
        <p:txBody>
          <a:bodyPr/>
          <a:p>
            <a:r>
              <a:rPr lang="en-US" altLang="en-US"/>
              <a:t>  Maita Basa!</a:t>
            </a:r>
            <a:br>
              <a:rPr lang="en-US" altLang="en-US"/>
            </a:br>
            <a:r>
              <a:rPr lang="en-US" altLang="en-US"/>
              <a:t>Dhan'yavādālu!</a:t>
            </a:r>
            <a:br>
              <a:rPr lang="en-US" altLang="en-US"/>
            </a:br>
            <a:endParaRPr lang="en-US" altLang="en-US"/>
          </a:p>
        </p:txBody>
      </p:sp>
      <p:sp>
        <p:nvSpPr>
          <p:cNvPr id="3" name="Content Placeholder 2"/>
          <p:cNvSpPr>
            <a:spLocks noGrp="1"/>
          </p:cNvSpPr>
          <p:nvPr>
            <p:ph idx="1"/>
          </p:nvPr>
        </p:nvSpPr>
        <p:spPr>
          <a:xfrm>
            <a:off x="609600" y="3078480"/>
            <a:ext cx="10972800" cy="3048000"/>
          </a:xfrm>
        </p:spPr>
        <p:txBody>
          <a:bodyPr/>
          <a:p>
            <a:r>
              <a:rPr lang="en-US" altLang="en-US"/>
              <a:t>                              </a:t>
            </a:r>
            <a:r>
              <a:rPr lang="en-US" altLang="en-US" sz="4400"/>
              <a:t>  Thank You! </a:t>
            </a:r>
            <a:endParaRPr lang="en-US" altLang="en-US" sz="4400"/>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5282</Words>
  <Application>WPS Presentation</Application>
  <PresentationFormat>Widescreen</PresentationFormat>
  <Paragraphs>75</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Times New Roman</vt:lpstr>
      <vt:lpstr>Wingdings</vt:lpstr>
      <vt:lpstr>Microsoft YaHei</vt:lpstr>
      <vt:lpstr>Arial Unicode MS</vt:lpstr>
      <vt:lpstr>Calibri</vt:lpstr>
      <vt:lpstr>Default Design</vt:lpstr>
      <vt:lpstr>PowerPoint 演示文稿</vt:lpstr>
      <vt:lpstr>   Title: "Digitalization in Petroleum Engineering: Transforming the Industry"            </vt:lpstr>
      <vt:lpstr> Introduction</vt:lpstr>
      <vt:lpstr> What is Digitalization?</vt:lpstr>
      <vt:lpstr> Key Digital Technologies</vt:lpstr>
      <vt:lpstr>Key Digital Technologies </vt:lpstr>
      <vt:lpstr>Key Digital Technologies  </vt:lpstr>
      <vt:lpstr>Cloud Computing</vt:lpstr>
      <vt:lpstr> Cybersecurity</vt:lpstr>
      <vt:lpstr>Environmental Impact</vt:lpstr>
      <vt:lpstr> Case Studies</vt:lpstr>
      <vt:lpstr>Case Study 2</vt:lpstr>
      <vt:lpstr>Conclusion</vt:lpstr>
      <vt:lpstr>  Maita Basa! Dhan'yavādālu!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Title: "Digitalization in Petroleum Engineering: Transforming the Industry"            </dc:title>
  <dc:creator/>
  <cp:lastModifiedBy>HP</cp:lastModifiedBy>
  <cp:revision>4</cp:revision>
  <dcterms:created xsi:type="dcterms:W3CDTF">2023-09-08T15:53:00Z</dcterms:created>
  <dcterms:modified xsi:type="dcterms:W3CDTF">2023-09-15T16:30:53Z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9491AB2428DD4646A9DEE46B6AAD04A9</vt:lpwstr>
  </property>
  <property fmtid="{D5CDD505-2E9C-101B-9397-08002B2CF9AE}" pid="3" name="KSOProductBuildVer">
    <vt:lpwstr>1033-11.2.0.11225</vt:lpwstr>
  </property>
</Properties>
</file>